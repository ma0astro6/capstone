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EL LÍDER (1 min).</a:t>
            </a:r>
          </a:p>
          <a:p>
            <a:r>
              <a:t>Saludar como a una gerencia. Presentar al equipo por nombre. Decir: proyecto real de incubadora, no inventario de bodega. Hoy pedimos aprobación de la definición APT.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INTEGRANTE 2 (2 min).</a:t>
            </a:r>
          </a:p>
          <a:p>
            <a:r>
              <a:t>Ejemplo concreto: habitaciones 105 y 107, tapa de baño 107, extintores. El inventario de bodega del hotel se CAYÓ: están cambiando el software del hotel. El cliente nos pidió su área, no bodega.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INTEGRANTE 3 (2 min).</a:t>
            </a:r>
          </a:p>
          <a:p>
            <a:r>
              <a:t>Mostrar mockup en el celular o una foto si da tiempo. Enfatizar: sistema APARTE de la web. Dos roles. Cuadros, no 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EL LÍDER (1,5 min).</a:t>
            </a:r>
          </a:p>
          <a:p>
            <a:r>
              <a:t>El docente mira la tabla de calidad disciplinaria. Nombrar las 4 competencias. Intereses: cada uno dice UNA frase de por qué le sirve (gestión / datos / UX).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INTEGRANTE 2 (1,5 min).</a:t>
            </a:r>
          </a:p>
          <a:p>
            <a:r>
              <a:t>Leer el general. De los específicos, insistir en OE4 = MVP. No prometemos el ERP completo ni el servidor de producción del hotel.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EL LÍDER (1,5 min).</a:t>
            </a:r>
          </a:p>
          <a:p>
            <a:r>
              <a:t>Incubadora: un líder escribe, no tres correos. Cada uno señala su rol. Si son dos, fusionar UI con líder o con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INTEGRANTE 3 (1,5 min).</a:t>
            </a:r>
          </a:p>
          <a:p>
            <a:r>
              <a:t>El indicador 4 de la rúbrica pide tiempo, materiales, factores externos Y cómo se abordan. Mencionar: un correo, horario laboral, no insistir a las 2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INTEGRANTE 2 (1,5 min).</a:t>
            </a:r>
          </a:p>
          <a:p>
            <a:r>
              <a:t>Rúbrica 12: hitos claros. S4, S10, S16, S18. Fase 2 no empieza de cero: ya hay RF, mockups y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 INTEGRANTE 3 (1 min).</a:t>
            </a:r>
          </a:p>
          <a:p>
            <a:r>
              <a:t>Decir: las evidencias se acuerdan con usted, profesor. Ya tenemos requerimientos y mockups como anexo.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HABLAN LOS TRES (cierre 1–2 min + preguntas).</a:t>
            </a:r>
          </a:p>
          <a:p>
            <a:r>
              <a:t>Repartir preguntas: líder = cliente e incubadora; datos = modelo y Excel; UI = pantallas y roles.</a:t>
            </a:r>
          </a:p>
          <a:p>
            <a:r>
              <a:t>No pelearse el micrófono. Si no saben, ofrecer confirmar con Andrés en la siguiente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DUOC UC  ·  Escuela de Informática y Telecomunicaciones  ·  PTY4614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Sistema web de gestión de obras,
mantención y mejora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A35A"/>
                </a:solidFill>
                <a:latin typeface="Calibri"/>
              </a:rPr>
              <a:t>Elalmendro Ecohotel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1E6"/>
                </a:solidFill>
                <a:latin typeface="Calibri"/>
              </a:rPr>
              <a:t>Fase 1 — Definición del Proyecto APT
Cliente: Andrés Cordero  ·  Incubadora CITT  ·  Coordinación: Paz Morales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Equipo: Matías Andrés Castro Aranda  ·  [Integrante 2]  ·  [Integrante 3]
4 de septiembre de 2026  ·  Presentación 15 minutos  ·  20 % de la asignatura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Área de Obras, Mantención y Mejora — operación actual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61188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6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611880" cy="109728"/>
          </a:xfrm>
          <a:prstGeom prst="rect">
            <a:avLst/>
          </a:prstGeom>
          <a:solidFill>
            <a:srgbClr val="2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246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A6F8A"/>
                </a:solidFill>
                <a:latin typeface="Calibri"/>
              </a:rPr>
              <a:t>Excel sueltos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2461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41C"/>
                </a:solidFill>
                <a:latin typeface="Calibri"/>
              </a:rPr>
              <a:t>Máquinas, jardín, obras, emergencias y remodelaciones en archivos distintos. Cuesta ver el gasto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1188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3611880" cy="109728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46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783A"/>
                </a:solidFill>
                <a:latin typeface="Calibri"/>
              </a:rPr>
              <a:t>Se pasan las fechas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880360"/>
            <a:ext cx="32461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41C"/>
                </a:solidFill>
                <a:latin typeface="Calibri"/>
              </a:rPr>
              <a:t>Caldera, extintores y bombas son anuales. Andrés ha recordado en junio lo de mayo.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61188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611880" cy="109728"/>
          </a:xfrm>
          <a:prstGeom prst="rect">
            <a:avLst/>
          </a:prstGeom>
          <a:solidFill>
            <a:srgbClr val="1F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246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4A3C"/>
                </a:solidFill>
                <a:latin typeface="Calibri"/>
              </a:rPr>
              <a:t>Sin un solo tablero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80360"/>
            <a:ext cx="32461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41C"/>
                </a:solidFill>
                <a:latin typeface="Calibri"/>
              </a:rPr>
              <a:t>No hay stock anclado a la emergencia ni presupuesto que se descuente al comprar.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 solución: tres pilares + control de costos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Software interno — no se liga a la web pública del hotel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3063240"/>
          </a:xfrm>
          <a:prstGeom prst="rect">
            <a:avLst/>
          </a:prstGeom>
          <a:solidFill>
            <a:srgbClr val="2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Mantención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1E6"/>
                </a:solidFill>
                <a:latin typeface="Calibri"/>
              </a:rPr>
              <a:t>Máquinas, jardín, obras
recurrentes y reactivas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703320" cy="3063240"/>
          </a:xfrm>
          <a:prstGeom prst="rect">
            <a:avLst/>
          </a:prstGeom>
          <a:solidFill>
            <a:srgbClr val="1F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Mejoras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9748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1E6"/>
                </a:solidFill>
                <a:latin typeface="Calibri"/>
              </a:rPr>
              <a:t>Proyectos futuros
valorizados (pérgola $1,5M)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03320" cy="3063240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4884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Remodelaciones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1E6"/>
                </a:solidFill>
                <a:latin typeface="Calibri"/>
              </a:rPr>
              <a:t>Zonas existentes
105 / 107, pasillos, salón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617720"/>
            <a:ext cx="1133856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41C"/>
                </a:solidFill>
                <a:latin typeface="Calibri"/>
              </a:rPr>
              <a:t>Transversal: administrador (Andrés) y usuario de mantención  ·  activo fijo + PDF de garantía  ·  Gantt y aviso ~2 semanas  ·  correo + alerta al entrar  ·  stock de tapas/flexibles/sifones  ·  presupuesto en tiempo real
UX pedida por el cliente: cuadros grandes, siglas, no ClickUp ni Salesforce.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Por qué es un APT de Ingeniería Informática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Competencias del perfil de egreso que sí se ejercen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194560" cy="100584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9006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627632"/>
            <a:ext cx="8686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41C"/>
                </a:solidFill>
                <a:latin typeface="Calibri"/>
              </a:rPr>
              <a:t>Construir, integrar e implantar una solución con ciclo de vida (no un Excel bonito).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60320"/>
            <a:ext cx="2194560" cy="100584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560320"/>
            <a:ext cx="9006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816352"/>
            <a:ext cx="8686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41C"/>
                </a:solidFill>
                <a:latin typeface="Calibri"/>
              </a:rPr>
              <a:t>Modelo relacional de activos, mantenciones, compras, stock y usuarios, escalable por año.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49039"/>
            <a:ext cx="2194560" cy="100584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Gestión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749039"/>
            <a:ext cx="9006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005071"/>
            <a:ext cx="8686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41C"/>
                </a:solidFill>
                <a:latin typeface="Calibri"/>
              </a:rPr>
              <a:t>Planificar alcance MVP, alternativas y control de hitos ante el cliente y el docente.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37760"/>
            <a:ext cx="2194560" cy="100584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1208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937760"/>
            <a:ext cx="9006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5193792"/>
            <a:ext cx="8686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41C"/>
                </a:solidFill>
                <a:latin typeface="Calibri"/>
              </a:rPr>
              <a:t>Diseñar y aplicar pruebas de roles, alertas, stock y costos; corregir con evidencia.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Claros, en infinitivo, medibles en el semestre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11338560" cy="132588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Desarrollar un sistema web interno que centralice mantención, mejoras y remodelaciones, con costos, activos, alertas y presupuesto.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11155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41C"/>
                </a:solidFill>
                <a:latin typeface="Calibri"/>
              </a:rPr>
              <a:t>▸  OE1  Levantar RF/RNF a partir del cliente y los Excel.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41C"/>
                </a:solidFill>
                <a:latin typeface="Calibri"/>
              </a:rPr>
              <a:t>▸  OE2  Diseñar modelo de datos y arquitectura (roles, pilares, presupuesto).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41C"/>
                </a:solidFill>
                <a:latin typeface="Calibri"/>
              </a:rPr>
              <a:t>▸  OE3  Prototipar interfaz de cuadros con identidad Elalmendro.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41C"/>
                </a:solidFill>
                <a:latin typeface="Calibri"/>
              </a:rPr>
              <a:t>▸  OE4  Implementar el MVP: login, tres pilares, costos, alertas y stock reactivo.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41C"/>
                </a:solidFill>
                <a:latin typeface="Calibri"/>
              </a:rPr>
              <a:t>▸  OE5  Validar con pruebas y feedback del cliente; documentar evidencias.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Metodología y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Ingeniería de software iterativa + Scrum ligero en construcción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788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16332A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4783A"/>
                </a:solidFill>
                <a:latin typeface="Calibri"/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2788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1A241C"/>
                </a:solidFill>
                <a:latin typeface="Calibri"/>
              </a:rPr>
              <a:t>Dominio y
requerimientos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788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16332A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1168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4783A"/>
                </a:solidFill>
                <a:latin typeface="Calibri"/>
              </a:rPr>
              <a:t>Fase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77440"/>
            <a:ext cx="2788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1A241C"/>
                </a:solidFill>
                <a:latin typeface="Calibri"/>
              </a:rPr>
              <a:t>Diseño UX
y modelo 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2788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16332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4783A"/>
                </a:solidFill>
                <a:latin typeface="Calibri"/>
              </a:rPr>
              <a:t>Fase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788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1A241C"/>
                </a:solidFill>
                <a:latin typeface="Calibri"/>
              </a:rPr>
              <a:t>Construcción
MVP por sprints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3716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17320"/>
            <a:ext cx="2788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16332A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01168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4783A"/>
                </a:solidFill>
                <a:latin typeface="Calibri"/>
              </a:rPr>
              <a:t>Fase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77440"/>
            <a:ext cx="2788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1A241C"/>
                </a:solidFill>
                <a:latin typeface="Calibri"/>
              </a:rPr>
              <a:t>Pruebas,
correcciones, cierre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3703320" cy="2286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23360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Líder /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34840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[Nombre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3429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1E6"/>
                </a:solidFill>
                <a:latin typeface="Calibri"/>
              </a:rPr>
              <a:t>Un solo correo a Andrés. Bitácoras. Alcance.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931920"/>
            <a:ext cx="3703320" cy="2286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023360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Datos /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34840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[Nombre 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892040"/>
            <a:ext cx="3429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1E6"/>
                </a:solidFill>
                <a:latin typeface="Calibri"/>
              </a:rPr>
              <a:t>BD, reglas de periodicidad y presupuesto.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931920"/>
            <a:ext cx="3703320" cy="2286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023360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UI / pruebas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434840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[Nombre 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892040"/>
            <a:ext cx="3429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1E6"/>
                </a:solidFill>
                <a:latin typeface="Calibri"/>
              </a:rPr>
              <a:t>Cuadros, mockups, casos de prueba y demo.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Factibilidad y fuera de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Por qué sí cabe en el semestre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6332A"/>
                </a:solidFill>
                <a:latin typeface="Calibri"/>
              </a:rPr>
              <a:t>Sí es factible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18 semanas en 3 fases; MVP recortado.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Excel del cliente + reunión ya hecha.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Stack libre: PC, Git, SGBD, web.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Sin integrar el PMS ni hardware.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Plan B: datos semilla si el histórico llega tarde.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5321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783A"/>
                </a:solidFill>
                <a:latin typeface="Calibri"/>
              </a:rPr>
              <a:t>No prometemos ahora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Inventario / bodega / caducidad del hotel.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Pegarlo a la web pública.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App móvil nativa.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Servidor de producción pagado (queda documentado).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41C"/>
                </a:solidFill>
                <a:latin typeface="Calibri"/>
              </a:rPr>
              <a:t>▸  ERP completo tipo SAP/OSAP.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 e hitos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Tres fases · evidencia de avance para el docente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88920" cy="246888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4A35A"/>
                </a:solidFill>
                <a:latin typeface="Calibri"/>
              </a:rPr>
              <a:t>S4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2788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7F1E6"/>
                </a:solidFill>
                <a:latin typeface="Calibri"/>
              </a:rPr>
              <a:t>Definición APT
aprobada + expo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88920" cy="2468880"/>
          </a:xfrm>
          <a:prstGeom prst="rect">
            <a:avLst/>
          </a:prstGeom>
          <a:solidFill>
            <a:srgbClr val="2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6304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4A35A"/>
                </a:solidFill>
                <a:latin typeface="Calibri"/>
              </a:rPr>
              <a:t>S10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2880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Hito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31720"/>
            <a:ext cx="2788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7F1E6"/>
                </a:solidFill>
                <a:latin typeface="Calibri"/>
              </a:rPr>
              <a:t>Demo módulos
núcleo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88920" cy="2468880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4A35A"/>
                </a:solidFill>
                <a:latin typeface="Calibri"/>
              </a:rPr>
              <a:t>S16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Hito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31720"/>
            <a:ext cx="2788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7F1E6"/>
                </a:solidFill>
                <a:latin typeface="Calibri"/>
              </a:rPr>
              <a:t>Pruebas y
correcciones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371600"/>
            <a:ext cx="2788920" cy="2468880"/>
          </a:xfrm>
          <a:prstGeom prst="rect">
            <a:avLst/>
          </a:prstGeom>
          <a:solidFill>
            <a:srgbClr val="1F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4A35A"/>
                </a:solidFill>
                <a:latin typeface="Calibri"/>
              </a:rPr>
              <a:t>S18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28800"/>
            <a:ext cx="2788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31720"/>
            <a:ext cx="2788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7F1E6"/>
                </a:solidFill>
                <a:latin typeface="Calibri"/>
              </a:rPr>
              <a:t>Informe final
y producto 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023360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6332A"/>
                </a:solidFill>
                <a:latin typeface="Calibri"/>
              </a:rPr>
              <a:t>Línea de tiempo (semanas 1 a 18)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526280"/>
            <a:ext cx="113385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2438400" cy="29260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Fase 1 Definición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1320" y="5074920"/>
            <a:ext cx="4876800" cy="292608"/>
          </a:xfrm>
          <a:prstGeom prst="rect">
            <a:avLst/>
          </a:prstGeom>
          <a:solidFill>
            <a:srgbClr val="2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566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Fase 2 Construcción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5486400"/>
            <a:ext cx="3657600" cy="292608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6811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Fase 3 Pruebas y cierre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Evidencias (a acordar con el docente)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Productos que demuestran el trabajo, no solo la intención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6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A6F8A"/>
                </a:solidFill>
                <a:latin typeface="Calibri"/>
              </a:rPr>
              <a:t>Avance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Este informe de definición APT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Catálogo RF / RNF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Mockups con logo oficial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Modelo ER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Informe de avance (semana 10)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5321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6332A"/>
                </a:solidFill>
                <a:latin typeface="Calibri"/>
              </a:rPr>
              <a:t>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Software MVP en entorno de prueba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Base de datos + script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Plan y resultados de pruebas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Manual breve / guía de despliegue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41C"/>
                </a:solidFill>
                <a:latin typeface="Calibri"/>
              </a:rPr>
              <a:t>▸  Informe final y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38544"/>
            <a:ext cx="9144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PTY4614 Capstone  ·  Fase 1  ·  Elalmendro Ecohotel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638544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4A35A"/>
                </a:solidFill>
                <a:latin typeface="Calibri"/>
              </a:rPr>
              <a:t>Lo que pedimos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155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Aprobar la definición del Proyecto APT
para pasar a diseño y construcción.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7F1E6"/>
                </a:solidFill>
                <a:latin typeface="Calibri"/>
              </a:rPr>
              <a:t>Un sistema interno para Elalmendro Ecohotel.
Tres pilares. Costos y alertas. Alcance de un semestre.
Cliente real. Perfil de egreso cubierto.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4A35A"/>
                </a:solidFill>
                <a:latin typeface="Calibri"/>
              </a:rPr>
              <a:t>¿Preguntas?
Equipo Capstone  ·  PTY4614  ·  4 de septiembre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